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279" r:id="rId4"/>
    <p:sldId id="313" r:id="rId5"/>
    <p:sldId id="282" r:id="rId6"/>
    <p:sldId id="284" r:id="rId7"/>
    <p:sldId id="285" r:id="rId8"/>
    <p:sldId id="344" r:id="rId9"/>
    <p:sldId id="310" r:id="rId10"/>
    <p:sldId id="345" r:id="rId11"/>
    <p:sldId id="346" r:id="rId12"/>
    <p:sldId id="291" r:id="rId13"/>
    <p:sldId id="341" r:id="rId14"/>
    <p:sldId id="292" r:id="rId15"/>
    <p:sldId id="307" r:id="rId1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3333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86" autoAdjust="0"/>
  </p:normalViewPr>
  <p:slideViewPr>
    <p:cSldViewPr>
      <p:cViewPr varScale="1">
        <p:scale>
          <a:sx n="82" d="100"/>
          <a:sy n="82" d="100"/>
        </p:scale>
        <p:origin x="1459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Header Placeholder 1">
            <a:extLst>
              <a:ext uri="{FF2B5EF4-FFF2-40B4-BE49-F238E27FC236}">
                <a16:creationId xmlns:a16="http://schemas.microsoft.com/office/drawing/2014/main" id="{594E18DD-ACC3-7181-C41F-8D81601897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48668" name="Date Placeholder 2">
            <a:extLst>
              <a:ext uri="{FF2B5EF4-FFF2-40B4-BE49-F238E27FC236}">
                <a16:creationId xmlns:a16="http://schemas.microsoft.com/office/drawing/2014/main" id="{F9EBBA23-8AA1-E3E7-2004-DF2AA9D54D7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Slide Image Placeholder 3">
            <a:extLst>
              <a:ext uri="{FF2B5EF4-FFF2-40B4-BE49-F238E27FC236}">
                <a16:creationId xmlns:a16="http://schemas.microsoft.com/office/drawing/2014/main" id="{2F50334E-5D97-6DFE-3A45-F5B828F48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48670" name="Notes Placeholder 4">
            <a:extLst>
              <a:ext uri="{FF2B5EF4-FFF2-40B4-BE49-F238E27FC236}">
                <a16:creationId xmlns:a16="http://schemas.microsoft.com/office/drawing/2014/main" id="{525F4C3B-4706-8FB5-3632-754C7100BC4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>
                <a:sym typeface="Arial" panose="020B0604020202020204" pitchFamily="34" charset="0"/>
              </a:rPr>
              <a:t>Click to edit Master text styles</a:t>
            </a:r>
          </a:p>
          <a:p>
            <a:pPr lvl="1"/>
            <a:r>
              <a:rPr lang="en-US" altLang="en-US" noProof="0">
                <a:sym typeface="Arial" panose="020B0604020202020204" pitchFamily="34" charset="0"/>
              </a:rPr>
              <a:t>Second level</a:t>
            </a:r>
          </a:p>
          <a:p>
            <a:pPr lvl="2"/>
            <a:r>
              <a:rPr lang="en-US" altLang="en-US" noProof="0">
                <a:sym typeface="Arial" panose="020B0604020202020204" pitchFamily="34" charset="0"/>
              </a:rPr>
              <a:t>Third level</a:t>
            </a:r>
          </a:p>
          <a:p>
            <a:pPr lvl="3"/>
            <a:r>
              <a:rPr lang="en-US" altLang="en-US" noProof="0">
                <a:sym typeface="Arial" panose="020B0604020202020204" pitchFamily="34" charset="0"/>
              </a:rPr>
              <a:t>Fourth level</a:t>
            </a:r>
          </a:p>
          <a:p>
            <a:pPr lvl="4"/>
            <a:r>
              <a:rPr lang="en-US" altLang="en-US" noProof="0">
                <a:sym typeface="Arial" panose="020B0604020202020204" pitchFamily="34" charset="0"/>
              </a:rPr>
              <a:t>Fifth level</a:t>
            </a:r>
          </a:p>
        </p:txBody>
      </p:sp>
      <p:sp>
        <p:nvSpPr>
          <p:cNvPr id="1048671" name="Footer Placeholder 5">
            <a:extLst>
              <a:ext uri="{FF2B5EF4-FFF2-40B4-BE49-F238E27FC236}">
                <a16:creationId xmlns:a16="http://schemas.microsoft.com/office/drawing/2014/main" id="{78224F8D-029F-008B-DA87-323C0E444F1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48672" name="Slide Number Placeholder 6">
            <a:extLst>
              <a:ext uri="{FF2B5EF4-FFF2-40B4-BE49-F238E27FC236}">
                <a16:creationId xmlns:a16="http://schemas.microsoft.com/office/drawing/2014/main" id="{6E8C4D11-15E8-62B6-D0F6-1BDED0CAE3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5A41D039-401C-4087-9791-A035CC760A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60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rgbClr val="000000"/>
        </a:solidFill>
        <a:latin typeface="Calibri" panose="020F050202020403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rgbClr val="000000"/>
        </a:solidFill>
        <a:latin typeface="Calibri" panose="020F050202020403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rgbClr val="000000"/>
        </a:solidFill>
        <a:latin typeface="Calibri" panose="020F050202020403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rgbClr val="000000"/>
        </a:solidFill>
        <a:latin typeface="Calibri" panose="020F050202020403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rgbClr val="000000"/>
        </a:solidFill>
        <a:latin typeface="Calibri" panose="020F050202020403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6624A-2F4B-96BC-FCA2-18D35F7115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ACE9F-26D5-4B1B-9DB4-9F52AE026E2C}" type="datetimeFigureOut">
              <a:rPr lang="en-US" altLang="en-US"/>
              <a:pPr>
                <a:defRPr/>
              </a:pPr>
              <a:t>3/13/2026</a:t>
            </a:fld>
            <a:endParaRPr lang="en-US" altLang="en-US" b="1" i="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6C27E-C1F1-EA20-1C82-B5E309AB63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DOMAIN OF INTERNSHIP</a:t>
            </a:r>
            <a:endParaRPr lang="en-US" altLang="en-US" sz="1800" b="0" i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2A8A3-B497-200A-DE8B-55EB898C8F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7E0F65-12A7-4EAC-AD0B-2C2AD06BD9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799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5CC0B-29BB-2338-FBBF-DD997CE4DB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405E80-6F46-4C4A-BC71-7EF57FF0F4E6}" type="datetimeFigureOut">
              <a:rPr lang="en-US" altLang="en-US"/>
              <a:pPr>
                <a:defRPr/>
              </a:pPr>
              <a:t>3/13/2026</a:t>
            </a:fld>
            <a:endParaRPr lang="en-US" altLang="en-US" b="1" i="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30011-EDE4-38E4-3D89-08449AF9B3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DOMAIN OF INTERNSHIP</a:t>
            </a:r>
            <a:endParaRPr lang="en-US" altLang="en-US" sz="1800" b="0" i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D0A15-DDAE-764F-13A1-A555CB453F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348D64-7ECA-4438-921E-856F2027ED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6563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8D0DA-FC36-E201-7853-2D40B00A72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E14377-603B-4356-8667-F9E0E36F85FC}" type="datetimeFigureOut">
              <a:rPr lang="en-US" altLang="en-US"/>
              <a:pPr>
                <a:defRPr/>
              </a:pPr>
              <a:t>3/13/2026</a:t>
            </a:fld>
            <a:endParaRPr lang="en-US" altLang="en-US" b="1" i="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C3BF2-E51B-F1E7-1BA9-DDA6C0C649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DOMAIN OF INTERNSHIP</a:t>
            </a:r>
            <a:endParaRPr lang="en-US" altLang="en-US" sz="1800" b="0" i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6B88B-A454-6290-C0CA-07B87B111B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FD48D4-D828-4119-B05C-D655A6131B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7436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3451D43-5724-35D6-6266-B1880522FF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2F8C19-1374-4E14-A897-1846DD65D02F}" type="datetimeFigureOut">
              <a:rPr lang="en-US" altLang="en-US"/>
              <a:pPr>
                <a:defRPr/>
              </a:pPr>
              <a:t>3/13/2026</a:t>
            </a:fld>
            <a:endParaRPr lang="en-US" altLang="en-US" b="1" i="1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5B7C3D2-AA66-8E38-BC63-268407CA34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DOMAIN OF INTERNSHIP</a:t>
            </a:r>
            <a:endParaRPr lang="en-US" altLang="en-US" sz="1800" b="0" i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45EFC3-8D5F-4065-8C34-1B7228943C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D42A91-D322-4AC5-A7BF-E283C4841E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0212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669B6E9-35F7-7D36-7C03-FFC1639CBB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21C371-818E-415B-861B-2A777F4E4A6B}" type="datetimeFigureOut">
              <a:rPr lang="en-US" altLang="en-US"/>
              <a:pPr>
                <a:defRPr/>
              </a:pPr>
              <a:t>3/13/2026</a:t>
            </a:fld>
            <a:endParaRPr lang="en-US" altLang="en-US" b="1" i="1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FE704BE-789F-B839-83FC-F9D308C27F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DOMAIN OF INTERNSHIP</a:t>
            </a:r>
            <a:endParaRPr lang="en-US" altLang="en-US" sz="1800" b="0" i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D2F1AF5-894B-4026-FDAA-FFA4CABC80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78E6BA-D604-4B20-8F7A-3040C8C041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7156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55D9641-E6B2-9736-4059-4213C95C5C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C0D86-4D25-4E70-8FB5-B6B5FB663EBA}" type="datetimeFigureOut">
              <a:rPr lang="en-US" altLang="en-US"/>
              <a:pPr>
                <a:defRPr/>
              </a:pPr>
              <a:t>3/13/2026</a:t>
            </a:fld>
            <a:endParaRPr lang="en-US" altLang="en-US" b="1" i="1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662F1D6-7F23-8C72-9F56-F47D0E80D7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DOMAIN OF INTERNSHIP</a:t>
            </a:r>
            <a:endParaRPr lang="en-US" altLang="en-US" sz="1800" b="0" i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D0F764-EE6D-3908-0395-9ECA5CF9BA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08C577-B870-4A30-BD5E-6B337CE6DA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9942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C4BA116-68C6-A9EA-F279-29A5A63289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FBC94-FA4F-42CA-B719-2AD275B8448E}" type="datetimeFigureOut">
              <a:rPr lang="en-US" altLang="en-US"/>
              <a:pPr>
                <a:defRPr/>
              </a:pPr>
              <a:t>3/13/2026</a:t>
            </a:fld>
            <a:endParaRPr lang="en-US" altLang="en-US" b="1" i="1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855D1E4-AF36-1C43-6A1A-172CD44FAA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DOMAIN OF INTERNSHIP</a:t>
            </a:r>
            <a:endParaRPr lang="en-US" altLang="en-US" sz="1800" b="0" i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7B9D64-DBFA-D52B-2FF9-2CF98F030B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5FD1A5-42A0-4ABF-9F33-8AAFC1FBCE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58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D355C9F-BE28-9B68-75AA-C9681E35FD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68FCB5-8D7D-430B-991C-3C2606297A71}" type="datetimeFigureOut">
              <a:rPr lang="en-US" altLang="en-US"/>
              <a:pPr>
                <a:defRPr/>
              </a:pPr>
              <a:t>3/13/2026</a:t>
            </a:fld>
            <a:endParaRPr lang="en-US" altLang="en-US" b="1" i="1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B1FB924-3BB9-FA73-9B5C-260615E888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DOMAIN OF INTERNSHIP</a:t>
            </a:r>
            <a:endParaRPr lang="en-US" altLang="en-US" sz="1800" b="0" i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D5373BC-D68E-468D-A6A2-374654E173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027852-9D14-4941-9A78-5E1272642B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493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E896158-795A-22A1-E4B8-8FF5314579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A8594-6AC0-48D6-AF59-DA5CB933174B}" type="datetimeFigureOut">
              <a:rPr lang="en-US" altLang="en-US"/>
              <a:pPr>
                <a:defRPr/>
              </a:pPr>
              <a:t>3/13/2026</a:t>
            </a:fld>
            <a:endParaRPr lang="en-US" altLang="en-US" b="1" i="1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153D2BD-DEB3-F48F-C6FD-14B3A94BCE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DOMAIN OF INTERNSHIP</a:t>
            </a:r>
            <a:endParaRPr lang="en-US" altLang="en-US" sz="1800" b="0" i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BF15D98-7B46-A8E6-88A0-B8E15DB71F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AF8D6C-0651-45B1-BD67-AB2F8230B7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88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50CA4-0A73-A587-3A38-AA2B554ACD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EF6C6-E197-45AF-A4B6-D319D28EDA4B}" type="datetimeFigureOut">
              <a:rPr lang="en-US" altLang="en-US"/>
              <a:pPr>
                <a:defRPr/>
              </a:pPr>
              <a:t>3/13/2026</a:t>
            </a:fld>
            <a:endParaRPr lang="en-US" altLang="en-US" b="1" i="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6AC1B-1A96-6D25-C676-F37190FCC9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DOMAIN OF INTERNSHIP</a:t>
            </a:r>
            <a:endParaRPr lang="en-US" altLang="en-US" sz="1800" b="0" i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D52A4-C8A1-69AB-9F01-113C633ABA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A12BA6-1116-4D4D-9DF3-FC27715AD0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241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C3C8A-01EC-BED5-C2C4-B16F12BBCE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B4A519-73BA-4A65-9753-324F3DE5B8C9}" type="datetimeFigureOut">
              <a:rPr lang="en-US" altLang="en-US"/>
              <a:pPr>
                <a:defRPr/>
              </a:pPr>
              <a:t>3/13/2026</a:t>
            </a:fld>
            <a:endParaRPr lang="en-US" altLang="en-US" b="1" i="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F46A7-03B7-7FB9-2380-9BAFC6578E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DOMAIN OF INTERNSHIP</a:t>
            </a:r>
            <a:endParaRPr lang="en-US" altLang="en-US" sz="1800" b="0" i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7F548-E0DC-7486-01FA-A8AFF2A9B8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9476D8-E58A-4B88-947D-70C10D7C0F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2289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Times New Roman"/>
                <a:cs typeface="Times New Roman"/>
              </a:defRPr>
            </a:lvl1pPr>
          </a:lstStyle>
          <a:p>
            <a:pPr algn="ctr">
              <a:lnSpc>
                <a:spcPts val="1410"/>
              </a:lnSpc>
            </a:pPr>
            <a:r>
              <a:rPr spc="-55" dirty="0"/>
              <a:t>WATER</a:t>
            </a:r>
            <a:r>
              <a:rPr spc="-10" dirty="0"/>
              <a:t> </a:t>
            </a:r>
            <a:r>
              <a:rPr spc="-5" dirty="0"/>
              <a:t>QUALITY</a:t>
            </a:r>
            <a:r>
              <a:rPr spc="-50" dirty="0"/>
              <a:t> </a:t>
            </a:r>
            <a:r>
              <a:rPr spc="-5" dirty="0"/>
              <a:t>PREDICTION </a:t>
            </a:r>
            <a:r>
              <a:rPr dirty="0"/>
              <a:t>USING</a:t>
            </a: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dirty="0"/>
              <a:t>MACHINE</a:t>
            </a:r>
            <a:r>
              <a:rPr spc="-45" dirty="0"/>
              <a:t> </a:t>
            </a:r>
            <a:r>
              <a:rPr dirty="0"/>
              <a:t>LEARNING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20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8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Times New Roman"/>
                <a:cs typeface="Times New Roman"/>
              </a:defRPr>
            </a:lvl1pPr>
          </a:lstStyle>
          <a:p>
            <a:pPr algn="ctr">
              <a:lnSpc>
                <a:spcPts val="1410"/>
              </a:lnSpc>
            </a:pPr>
            <a:r>
              <a:rPr spc="-55" dirty="0"/>
              <a:t>WATER</a:t>
            </a:r>
            <a:r>
              <a:rPr spc="-10" dirty="0"/>
              <a:t> </a:t>
            </a:r>
            <a:r>
              <a:rPr spc="-5" dirty="0"/>
              <a:t>QUALITY</a:t>
            </a:r>
            <a:r>
              <a:rPr spc="-50" dirty="0"/>
              <a:t> </a:t>
            </a:r>
            <a:r>
              <a:rPr spc="-5" dirty="0"/>
              <a:t>PREDICTION </a:t>
            </a:r>
            <a:r>
              <a:rPr dirty="0"/>
              <a:t>USING</a:t>
            </a: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dirty="0"/>
              <a:t>MACHINE</a:t>
            </a:r>
            <a:r>
              <a:rPr spc="-45" dirty="0"/>
              <a:t> </a:t>
            </a:r>
            <a:r>
              <a:rPr dirty="0"/>
              <a:t>LEARNING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0086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8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Times New Roman"/>
                <a:cs typeface="Times New Roman"/>
              </a:defRPr>
            </a:lvl1pPr>
          </a:lstStyle>
          <a:p>
            <a:pPr algn="ctr">
              <a:lnSpc>
                <a:spcPts val="1410"/>
              </a:lnSpc>
            </a:pPr>
            <a:r>
              <a:rPr spc="-55" dirty="0"/>
              <a:t>WATER</a:t>
            </a:r>
            <a:r>
              <a:rPr spc="-10" dirty="0"/>
              <a:t> </a:t>
            </a:r>
            <a:r>
              <a:rPr spc="-5" dirty="0"/>
              <a:t>QUALITY</a:t>
            </a:r>
            <a:r>
              <a:rPr spc="-50" dirty="0"/>
              <a:t> </a:t>
            </a:r>
            <a:r>
              <a:rPr spc="-5" dirty="0"/>
              <a:t>PREDICTION </a:t>
            </a:r>
            <a:r>
              <a:rPr dirty="0"/>
              <a:t>USING</a:t>
            </a: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dirty="0"/>
              <a:t>MACHINE</a:t>
            </a:r>
            <a:r>
              <a:rPr spc="-45" dirty="0"/>
              <a:t> </a:t>
            </a:r>
            <a:r>
              <a:rPr dirty="0"/>
              <a:t>LEARNING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8211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8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Times New Roman"/>
                <a:cs typeface="Times New Roman"/>
              </a:defRPr>
            </a:lvl1pPr>
          </a:lstStyle>
          <a:p>
            <a:pPr algn="ctr">
              <a:lnSpc>
                <a:spcPts val="1410"/>
              </a:lnSpc>
            </a:pPr>
            <a:r>
              <a:rPr spc="-55" dirty="0"/>
              <a:t>WATER</a:t>
            </a:r>
            <a:r>
              <a:rPr spc="-10" dirty="0"/>
              <a:t> </a:t>
            </a:r>
            <a:r>
              <a:rPr spc="-5" dirty="0"/>
              <a:t>QUALITY</a:t>
            </a:r>
            <a:r>
              <a:rPr spc="-50" dirty="0"/>
              <a:t> </a:t>
            </a:r>
            <a:r>
              <a:rPr spc="-5" dirty="0"/>
              <a:t>PREDICTION </a:t>
            </a:r>
            <a:r>
              <a:rPr dirty="0"/>
              <a:t>USING</a:t>
            </a: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dirty="0"/>
              <a:t>MACHINE</a:t>
            </a:r>
            <a:r>
              <a:rPr spc="-45" dirty="0"/>
              <a:t> </a:t>
            </a:r>
            <a:r>
              <a:rPr dirty="0"/>
              <a:t>LEARNING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3249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Times New Roman"/>
                <a:cs typeface="Times New Roman"/>
              </a:defRPr>
            </a:lvl1pPr>
          </a:lstStyle>
          <a:p>
            <a:pPr algn="ctr">
              <a:lnSpc>
                <a:spcPts val="1410"/>
              </a:lnSpc>
            </a:pPr>
            <a:r>
              <a:rPr spc="-55" dirty="0"/>
              <a:t>WATER</a:t>
            </a:r>
            <a:r>
              <a:rPr spc="-10" dirty="0"/>
              <a:t> </a:t>
            </a:r>
            <a:r>
              <a:rPr spc="-5" dirty="0"/>
              <a:t>QUALITY</a:t>
            </a:r>
            <a:r>
              <a:rPr spc="-50" dirty="0"/>
              <a:t> </a:t>
            </a:r>
            <a:r>
              <a:rPr spc="-5" dirty="0"/>
              <a:t>PREDICTION </a:t>
            </a:r>
            <a:r>
              <a:rPr dirty="0"/>
              <a:t>USING</a:t>
            </a: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dirty="0"/>
              <a:t>MACHINE</a:t>
            </a:r>
            <a:r>
              <a:rPr spc="-45" dirty="0"/>
              <a:t> </a:t>
            </a:r>
            <a:r>
              <a:rPr dirty="0"/>
              <a:t>LEARNING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153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46CB570-1AF8-FEF8-ABEB-0B65C031E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193F2D2-2B04-BFEF-4824-B961FAFE3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578" name="Date Placeholder 3">
            <a:extLst>
              <a:ext uri="{FF2B5EF4-FFF2-40B4-BE49-F238E27FC236}">
                <a16:creationId xmlns:a16="http://schemas.microsoft.com/office/drawing/2014/main" id="{0FE1249A-9C02-06BD-2169-B18686CA83F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5FA3BCB0-5285-42E6-B81C-8EFD6E88F639}" type="datetimeFigureOut">
              <a:rPr lang="en-US" altLang="en-US"/>
              <a:pPr>
                <a:defRPr/>
              </a:pPr>
              <a:t>3/13/2026</a:t>
            </a:fld>
            <a:endParaRPr lang="en-US" altLang="en-US" b="1" i="1"/>
          </a:p>
        </p:txBody>
      </p:sp>
      <p:sp>
        <p:nvSpPr>
          <p:cNvPr id="1048579" name="Footer Placeholder 4">
            <a:extLst>
              <a:ext uri="{FF2B5EF4-FFF2-40B4-BE49-F238E27FC236}">
                <a16:creationId xmlns:a16="http://schemas.microsoft.com/office/drawing/2014/main" id="{00B4AD98-E163-9934-784E-598BE2F5046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 b="1" i="1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en-US"/>
              <a:t>DOMAIN OF INTERNSHIP</a:t>
            </a:r>
            <a:endParaRPr lang="en-US" altLang="en-US" sz="1800" b="0" i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48580" name="Slide Number Placeholder 5">
            <a:extLst>
              <a:ext uri="{FF2B5EF4-FFF2-40B4-BE49-F238E27FC236}">
                <a16:creationId xmlns:a16="http://schemas.microsoft.com/office/drawing/2014/main" id="{5BFD1312-4C15-62B1-18BF-9EF4A80AF6F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b="1" i="1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052240EC-CD31-4690-A0B8-FE234648658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 panose="020F0302020204030204" pitchFamily="34" charset="0"/>
          <a:cs typeface="Calibri Light" panose="020F0302020204030204" pitchFamily="34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 panose="020F0302020204030204" pitchFamily="34" charset="0"/>
          <a:cs typeface="Calibri Light" panose="020F0302020204030204" pitchFamily="34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 panose="020F0302020204030204" pitchFamily="34" charset="0"/>
          <a:cs typeface="Calibri Light" panose="020F0302020204030204" pitchFamily="34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 panose="020F0302020204030204" pitchFamily="34" charset="0"/>
          <a:cs typeface="Calibri Light" panose="020F0302020204030204" pitchFamily="34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anose="020F0502020204030204" pitchFamily="34" charset="0"/>
          <a:cs typeface="Calibri Light" panose="020F0302020204030204" pitchFamily="34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anose="020F0502020204030204" pitchFamily="34" charset="0"/>
          <a:cs typeface="Calibri Light" panose="020F0302020204030204" pitchFamily="34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anose="020F0502020204030204" pitchFamily="34" charset="0"/>
          <a:cs typeface="Calibri Light" panose="020F0302020204030204" pitchFamily="34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anose="020F0502020204030204" pitchFamily="34" charset="0"/>
          <a:cs typeface="Calibri Light" panose="020F0302020204030204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09150" y="2705079"/>
            <a:ext cx="3125698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8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0219" y="1286119"/>
            <a:ext cx="8163560" cy="3562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226619" y="6354204"/>
            <a:ext cx="2691129" cy="384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F7F7F"/>
                </a:solidFill>
                <a:latin typeface="Times New Roman"/>
                <a:cs typeface="Times New Roman"/>
              </a:defRPr>
            </a:lvl1pPr>
          </a:lstStyle>
          <a:p>
            <a:pPr algn="ctr">
              <a:lnSpc>
                <a:spcPts val="1410"/>
              </a:lnSpc>
            </a:pPr>
            <a:r>
              <a:rPr spc="-55" dirty="0"/>
              <a:t>WATER</a:t>
            </a:r>
            <a:r>
              <a:rPr spc="-10" dirty="0"/>
              <a:t> </a:t>
            </a:r>
            <a:r>
              <a:rPr spc="-5" dirty="0"/>
              <a:t>QUALITY</a:t>
            </a:r>
            <a:r>
              <a:rPr spc="-50" dirty="0"/>
              <a:t> </a:t>
            </a:r>
            <a:r>
              <a:rPr spc="-5" dirty="0"/>
              <a:t>PREDICTION </a:t>
            </a:r>
            <a:r>
              <a:rPr dirty="0"/>
              <a:t>USING</a:t>
            </a: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dirty="0"/>
              <a:t>MACHINE</a:t>
            </a:r>
            <a:r>
              <a:rPr spc="-45" dirty="0"/>
              <a:t> </a:t>
            </a:r>
            <a:r>
              <a:rPr dirty="0"/>
              <a:t>LEARNING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48495" y="6452244"/>
            <a:ext cx="23114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7621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759898" y="1340768"/>
            <a:ext cx="7772541" cy="4692140"/>
          </a:xfrm>
          <a:prstGeom prst="rect">
            <a:avLst/>
          </a:prstGeom>
        </p:spPr>
        <p:txBody>
          <a:bodyPr vert="horz" wrap="square" lIns="0" tIns="1527196" rIns="0" bIns="0" rtlCol="0">
            <a:spAutoFit/>
          </a:bodyPr>
          <a:lstStyle/>
          <a:p>
            <a:pPr marL="304800" algn="ctr">
              <a:lnSpc>
                <a:spcPct val="100000"/>
              </a:lnSpc>
              <a:spcBef>
                <a:spcPts val="695"/>
              </a:spcBef>
            </a:pPr>
            <a:endParaRPr lang="en-IN" sz="2800" b="1" spc="-40" dirty="0">
              <a:solidFill>
                <a:srgbClr val="002060"/>
              </a:solidFill>
            </a:endParaRPr>
          </a:p>
          <a:p>
            <a:pPr marL="304800" algn="ctr">
              <a:lnSpc>
                <a:spcPct val="100000"/>
              </a:lnSpc>
              <a:spcBef>
                <a:spcPts val="695"/>
              </a:spcBef>
            </a:pPr>
            <a:r>
              <a:rPr lang="en-IN" sz="2000" b="1" spc="-40" dirty="0">
                <a:solidFill>
                  <a:srgbClr val="002060"/>
                </a:solidFill>
              </a:rPr>
              <a:t>P. BHANU PRAKASH (23C11A6609)</a:t>
            </a:r>
            <a:endParaRPr sz="2000" dirty="0">
              <a:solidFill>
                <a:srgbClr val="002060"/>
              </a:solidFill>
              <a:latin typeface="Times New Roman"/>
              <a:cs typeface="Times New Roman"/>
            </a:endParaRPr>
          </a:p>
          <a:p>
            <a:pPr marL="304800" algn="ctr">
              <a:lnSpc>
                <a:spcPts val="1560"/>
              </a:lnSpc>
              <a:spcBef>
                <a:spcPts val="2465"/>
              </a:spcBef>
            </a:pPr>
            <a:r>
              <a:rPr sz="1400" spc="-5" dirty="0">
                <a:solidFill>
                  <a:srgbClr val="7F7F7F"/>
                </a:solidFill>
              </a:rPr>
              <a:t>Under</a:t>
            </a:r>
            <a:r>
              <a:rPr sz="1400" spc="-15" dirty="0">
                <a:solidFill>
                  <a:srgbClr val="7F7F7F"/>
                </a:solidFill>
              </a:rPr>
              <a:t> </a:t>
            </a:r>
            <a:r>
              <a:rPr sz="1400" dirty="0">
                <a:solidFill>
                  <a:srgbClr val="7F7F7F"/>
                </a:solidFill>
              </a:rPr>
              <a:t>the</a:t>
            </a:r>
            <a:r>
              <a:rPr sz="1400" spc="-20" dirty="0">
                <a:solidFill>
                  <a:srgbClr val="7F7F7F"/>
                </a:solidFill>
              </a:rPr>
              <a:t> </a:t>
            </a:r>
            <a:r>
              <a:rPr sz="1400" spc="-5" dirty="0">
                <a:solidFill>
                  <a:srgbClr val="7F7F7F"/>
                </a:solidFill>
              </a:rPr>
              <a:t>guidance</a:t>
            </a:r>
            <a:r>
              <a:rPr sz="1400" spc="-15" dirty="0">
                <a:solidFill>
                  <a:srgbClr val="7F7F7F"/>
                </a:solidFill>
              </a:rPr>
              <a:t> </a:t>
            </a:r>
            <a:r>
              <a:rPr sz="1400" dirty="0">
                <a:solidFill>
                  <a:srgbClr val="7F7F7F"/>
                </a:solidFill>
              </a:rPr>
              <a:t>of</a:t>
            </a:r>
            <a:endParaRPr sz="1400" dirty="0"/>
          </a:p>
          <a:p>
            <a:pPr marL="304800" algn="ctr"/>
            <a:r>
              <a:rPr lang="en-IN" sz="2400" b="1" dirty="0">
                <a:solidFill>
                  <a:srgbClr val="002060"/>
                </a:solidFill>
              </a:rPr>
              <a:t>Dr. G. JOHN BABU</a:t>
            </a:r>
            <a:r>
              <a:rPr lang="en-IN" sz="1400" b="1" dirty="0">
                <a:solidFill>
                  <a:srgbClr val="002060"/>
                </a:solidFill>
              </a:rPr>
              <a:t>M.Tech.,Ph.D.</a:t>
            </a:r>
          </a:p>
          <a:p>
            <a:pPr marL="304800" algn="ctr"/>
            <a:r>
              <a:rPr lang="en-IN" sz="1400" spc="-5" dirty="0">
                <a:solidFill>
                  <a:srgbClr val="7F7F7F"/>
                </a:solidFill>
              </a:rPr>
              <a:t>Associate professor</a:t>
            </a:r>
            <a:endParaRPr lang="en-IN" sz="1400" dirty="0"/>
          </a:p>
          <a:p>
            <a:pPr marL="304800" algn="ctr">
              <a:lnSpc>
                <a:spcPts val="1670"/>
              </a:lnSpc>
            </a:pPr>
            <a:endParaRPr lang="en-IN" sz="1400" spc="-5" dirty="0">
              <a:solidFill>
                <a:srgbClr val="7F7F7F"/>
              </a:solidFill>
            </a:endParaRPr>
          </a:p>
          <a:p>
            <a:pPr marL="304800" algn="ctr">
              <a:lnSpc>
                <a:spcPts val="1670"/>
              </a:lnSpc>
            </a:pPr>
            <a:endParaRPr lang="en-IN" sz="1400" spc="-5" dirty="0">
              <a:solidFill>
                <a:srgbClr val="7F7F7F"/>
              </a:solidFill>
            </a:endParaRPr>
          </a:p>
          <a:p>
            <a:pPr marL="304800" algn="ctr">
              <a:lnSpc>
                <a:spcPts val="1670"/>
              </a:lnSpc>
            </a:pPr>
            <a:endParaRPr lang="en-IN" sz="1400" spc="-5" dirty="0">
              <a:solidFill>
                <a:srgbClr val="7F7F7F"/>
              </a:solidFill>
            </a:endParaRPr>
          </a:p>
          <a:p>
            <a:pPr marL="304800" algn="r">
              <a:lnSpc>
                <a:spcPts val="1670"/>
              </a:lnSpc>
            </a:pPr>
            <a:endParaRPr lang="en-IN" sz="500" spc="-5" dirty="0">
              <a:solidFill>
                <a:srgbClr val="7F7F7F"/>
              </a:solidFill>
            </a:endParaRPr>
          </a:p>
          <a:p>
            <a:pPr marL="304800" algn="r">
              <a:lnSpc>
                <a:spcPts val="1670"/>
              </a:lnSpc>
            </a:pPr>
            <a:r>
              <a:rPr lang="en-IN" sz="1400" spc="-5" dirty="0">
                <a:solidFill>
                  <a:srgbClr val="002060"/>
                </a:solidFill>
              </a:rPr>
              <a:t>SIGNATURE OF THE SUPERVISOR   </a:t>
            </a:r>
            <a:endParaRPr sz="1400" dirty="0">
              <a:solidFill>
                <a:srgbClr val="00206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7544" y="625038"/>
            <a:ext cx="8242969" cy="3012822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52729" marR="5080" indent="-240665" algn="ctr">
              <a:lnSpc>
                <a:spcPts val="3800"/>
              </a:lnSpc>
              <a:spcBef>
                <a:spcPts val="459"/>
              </a:spcBef>
            </a:pPr>
            <a:br>
              <a:rPr lang="en-IN" sz="3400" spc="-130" dirty="0">
                <a:solidFill>
                  <a:srgbClr val="002060"/>
                </a:solidFill>
              </a:rPr>
            </a:br>
            <a:r>
              <a:rPr lang="en-IN" sz="3400" spc="-130" dirty="0">
                <a:solidFill>
                  <a:srgbClr val="002060"/>
                </a:solidFill>
              </a:rPr>
              <a:t>Internship Review-1  </a:t>
            </a:r>
            <a:br>
              <a:rPr lang="en-IN" sz="3400" spc="-130" dirty="0">
                <a:solidFill>
                  <a:srgbClr val="002060"/>
                </a:solidFill>
              </a:rPr>
            </a:br>
            <a:br>
              <a:rPr lang="en-IN" sz="3400" spc="-130" dirty="0">
                <a:solidFill>
                  <a:srgbClr val="002060"/>
                </a:solidFill>
              </a:rPr>
            </a:b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SIGN LANGUAGE PREDICTION USING HAND 				    GESTURES   </a:t>
            </a:r>
            <a:r>
              <a:rPr lang="en-US" sz="2800" dirty="0">
                <a:solidFill>
                  <a:srgbClr val="002060"/>
                </a:solidFill>
              </a:rPr>
              <a:t>				      					                  </a:t>
            </a:r>
            <a:r>
              <a:rPr sz="2400" dirty="0">
                <a:solidFill>
                  <a:srgbClr val="002060"/>
                </a:solidFill>
              </a:rPr>
              <a:t>Dt:</a:t>
            </a:r>
            <a:r>
              <a:rPr lang="en-US" sz="2000" dirty="0">
                <a:solidFill>
                  <a:srgbClr val="002060"/>
                </a:solidFill>
              </a:rPr>
              <a:t>30-01-2026</a:t>
            </a:r>
            <a:endParaRPr sz="2400" dirty="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609868-D2E0-DDEA-C07F-8DA3DBD3008B}"/>
              </a:ext>
            </a:extLst>
          </p:cNvPr>
          <p:cNvSpPr/>
          <p:nvPr/>
        </p:nvSpPr>
        <p:spPr>
          <a:xfrm>
            <a:off x="1" y="6525344"/>
            <a:ext cx="9144000" cy="3326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CSE(AI&amp;ML)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7803DC-9112-F1E1-D43E-4DF56822D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32220"/>
            <a:ext cx="3275856" cy="10340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A23C9FED-BBD9-B5A5-5997-619C191933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052513"/>
          </a:xfrm>
        </p:spPr>
        <p:txBody>
          <a:bodyPr/>
          <a:lstStyle/>
          <a:p>
            <a:pPr eaLnBrk="1" latinLnBrk="0" hangingPunct="1"/>
            <a:br>
              <a:rPr lang="en-GB" altLang="en-US" sz="4000" b="1" dirty="0">
                <a:solidFill>
                  <a:srgbClr val="002060"/>
                </a:solidFill>
                <a:latin typeface="Calisto MT" panose="02040603050505030304" pitchFamily="18" charset="0"/>
                <a:sym typeface="Arial" panose="020B0604020202020204" pitchFamily="34" charset="0"/>
              </a:rPr>
            </a:br>
            <a:r>
              <a:rPr lang="en-GB" altLang="en-US" sz="4000" b="1" dirty="0">
                <a:solidFill>
                  <a:srgbClr val="002060"/>
                </a:solidFill>
                <a:latin typeface="Calisto MT" panose="02040603050505030304" pitchFamily="18" charset="0"/>
                <a:sym typeface="Arial" panose="020B0604020202020204" pitchFamily="34" charset="0"/>
              </a:rPr>
              <a:t>CONTENTS</a:t>
            </a:r>
            <a:br>
              <a:rPr lang="en-US" altLang="en-US" sz="4000" b="1" dirty="0">
                <a:solidFill>
                  <a:srgbClr val="002060"/>
                </a:solidFill>
                <a:latin typeface="Calisto MT" panose="02040603050505030304" pitchFamily="18" charset="0"/>
                <a:sym typeface="Arial" panose="020B0604020202020204" pitchFamily="34" charset="0"/>
              </a:rPr>
            </a:br>
            <a:endParaRPr lang="en-US" altLang="en-US" dirty="0">
              <a:solidFill>
                <a:srgbClr val="002060"/>
              </a:solidFill>
            </a:endParaRP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5119FD73-7D96-CE9F-9042-CB3E974F5C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764704"/>
            <a:ext cx="8229600" cy="5591646"/>
          </a:xfrm>
        </p:spPr>
        <p:txBody>
          <a:bodyPr/>
          <a:lstStyle/>
          <a:p>
            <a:pPr eaLnBrk="1" latinLnBrk="0" hangingPunct="1">
              <a:lnSpc>
                <a:spcPct val="80000"/>
              </a:lnSpc>
            </a:pPr>
            <a:endParaRPr lang="en-GB" altLang="en-US" sz="2300" dirty="0">
              <a:solidFill>
                <a:srgbClr val="002060"/>
              </a:solidFill>
              <a:latin typeface="Calisto MT" panose="02040603050505030304" pitchFamily="18" charset="0"/>
              <a:sym typeface="Arial" panose="020B0604020202020204" pitchFamily="34" charset="0"/>
            </a:endParaRPr>
          </a:p>
          <a:p>
            <a:pPr eaLnBrk="1" latinLnBrk="0" hangingPunct="1"/>
            <a:r>
              <a:rPr lang="en-GB" altLang="en-US" sz="2300" dirty="0">
                <a:solidFill>
                  <a:srgbClr val="00206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INTRODUCTION TO TECHNOLOGY</a:t>
            </a:r>
          </a:p>
          <a:p>
            <a:pPr eaLnBrk="1" latinLnBrk="0" hangingPunct="1"/>
            <a:r>
              <a:rPr lang="en-GB" altLang="en-US" sz="2300" dirty="0">
                <a:solidFill>
                  <a:srgbClr val="00206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HISTORY</a:t>
            </a:r>
            <a:endParaRPr lang="en-US" altLang="en-US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eaLnBrk="1" latinLnBrk="0" hangingPunct="1"/>
            <a:r>
              <a:rPr lang="en-GB" altLang="en-US" sz="2300" dirty="0">
                <a:solidFill>
                  <a:srgbClr val="00206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APPLICATIONS</a:t>
            </a:r>
            <a:endParaRPr lang="en-US" altLang="en-US" sz="2300" dirty="0">
              <a:solidFill>
                <a:srgbClr val="00206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eaLnBrk="1" latinLnBrk="0" hangingPunct="1"/>
            <a:r>
              <a:rPr lang="en-US" altLang="en-US" sz="2300" dirty="0">
                <a:solidFill>
                  <a:srgbClr val="00206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FEATURES</a:t>
            </a:r>
          </a:p>
          <a:p>
            <a:pPr eaLnBrk="1" latinLnBrk="0" hangingPunct="1"/>
            <a:r>
              <a:rPr lang="en-US" altLang="en-US" sz="2300" dirty="0">
                <a:solidFill>
                  <a:srgbClr val="00206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ARCHITECTURE</a:t>
            </a:r>
          </a:p>
          <a:p>
            <a:pPr eaLnBrk="1" latinLnBrk="0" hangingPunct="1"/>
            <a:r>
              <a:rPr lang="en-US" altLang="en-US" sz="2300" dirty="0">
                <a:solidFill>
                  <a:srgbClr val="00206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SERVICES</a:t>
            </a:r>
            <a:endParaRPr lang="en-US" altLang="en-US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eaLnBrk="1" latinLnBrk="0" hangingPunct="1"/>
            <a:r>
              <a:rPr lang="en-GB" altLang="en-US" sz="2200" dirty="0">
                <a:solidFill>
                  <a:srgbClr val="00206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CONCLUSION</a:t>
            </a:r>
          </a:p>
          <a:p>
            <a:pPr eaLnBrk="1" latinLnBrk="0" hangingPunct="1"/>
            <a:r>
              <a:rPr lang="en-GB" altLang="en-US" sz="2200" dirty="0">
                <a:solidFill>
                  <a:srgbClr val="00206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PROJECT TITLE</a:t>
            </a:r>
          </a:p>
          <a:p>
            <a:pPr eaLnBrk="1" latinLnBrk="0" hangingPunct="1"/>
            <a:r>
              <a:rPr lang="en-GB" altLang="en-US" sz="2200" dirty="0">
                <a:solidFill>
                  <a:srgbClr val="00206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PROBLEM STATEMENT</a:t>
            </a:r>
          </a:p>
          <a:p>
            <a:pPr eaLnBrk="1" latinLnBrk="0" hangingPunct="1"/>
            <a:r>
              <a:rPr lang="en-GB" altLang="en-US" sz="2200" dirty="0">
                <a:solidFill>
                  <a:srgbClr val="00206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OBJECTIVE</a:t>
            </a:r>
          </a:p>
          <a:p>
            <a:pPr eaLnBrk="1" latinLnBrk="0" hangingPunct="1"/>
            <a:r>
              <a:rPr lang="en-GB" altLang="en-US" sz="2200" dirty="0">
                <a:solidFill>
                  <a:srgbClr val="00206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REQUIREMENTS</a:t>
            </a:r>
          </a:p>
          <a:p>
            <a:pPr eaLnBrk="1" latinLnBrk="0" hangingPunct="1">
              <a:lnSpc>
                <a:spcPct val="80000"/>
              </a:lnSpc>
            </a:pPr>
            <a:endParaRPr lang="en-GB" altLang="en-US" sz="2200" dirty="0">
              <a:solidFill>
                <a:srgbClr val="002060"/>
              </a:solidFill>
              <a:latin typeface="Calisto MT" panose="02040603050505030304" pitchFamily="18" charset="0"/>
              <a:sym typeface="Arial" panose="020B0604020202020204" pitchFamily="34" charset="0"/>
            </a:endParaRPr>
          </a:p>
          <a:p>
            <a:pPr eaLnBrk="1" latinLnBrk="0" hangingPunct="1">
              <a:lnSpc>
                <a:spcPct val="80000"/>
              </a:lnSpc>
            </a:pPr>
            <a:endParaRPr lang="en-GB" altLang="en-US" sz="2200" dirty="0">
              <a:solidFill>
                <a:srgbClr val="002060"/>
              </a:solidFill>
              <a:latin typeface="Calisto MT" panose="02040603050505030304" pitchFamily="18" charset="0"/>
              <a:sym typeface="Arial" panose="020B0604020202020204" pitchFamily="34" charset="0"/>
            </a:endParaRPr>
          </a:p>
          <a:p>
            <a:pPr marL="0" indent="0" eaLnBrk="1" latinLnBrk="0" hangingPunct="1">
              <a:lnSpc>
                <a:spcPct val="80000"/>
              </a:lnSpc>
              <a:buNone/>
            </a:pPr>
            <a:endParaRPr lang="en-US" altLang="en-US" sz="2200" dirty="0">
              <a:solidFill>
                <a:srgbClr val="002060"/>
              </a:solidFill>
              <a:sym typeface="Arial" panose="020B0604020202020204" pitchFamily="34" charset="0"/>
            </a:endParaRP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60750DB7-31CA-B103-4DEB-CE60967CD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SCIENCE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75AB1AB0-A980-E02B-8BC8-017CECE1C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" y="260648"/>
            <a:ext cx="8229600" cy="1080119"/>
          </a:xfrm>
        </p:spPr>
        <p:txBody>
          <a:bodyPr/>
          <a:lstStyle/>
          <a:p>
            <a:r>
              <a:rPr lang="en-GB" altLang="en-US" sz="4000" b="1" dirty="0">
                <a:solidFill>
                  <a:srgbClr val="002060"/>
                </a:solidFill>
                <a:latin typeface="Calisto MT" panose="02040603050505030304" pitchFamily="18" charset="0"/>
                <a:sym typeface="Arial" panose="020B0604020202020204" pitchFamily="34" charset="0"/>
              </a:rPr>
              <a:t>INTRODUCTION TO </a:t>
            </a:r>
            <a:br>
              <a:rPr lang="en-GB" altLang="en-US" sz="4000" b="1" dirty="0">
                <a:solidFill>
                  <a:srgbClr val="002060"/>
                </a:solidFill>
                <a:latin typeface="Calisto MT" panose="02040603050505030304" pitchFamily="18" charset="0"/>
                <a:sym typeface="Arial" panose="020B0604020202020204" pitchFamily="34" charset="0"/>
              </a:rPr>
            </a:br>
            <a:r>
              <a:rPr lang="en-GB" altLang="en-US" sz="4000" b="1" dirty="0">
                <a:solidFill>
                  <a:srgbClr val="002060"/>
                </a:solidFill>
                <a:latin typeface="Calisto MT" panose="02040603050505030304" pitchFamily="18" charset="0"/>
                <a:sym typeface="Arial" panose="020B0604020202020204" pitchFamily="34" charset="0"/>
              </a:rPr>
              <a:t>TECHNOLOGY</a:t>
            </a:r>
            <a:endParaRPr lang="en-US" altLang="en-US" sz="2800" b="1" dirty="0">
              <a:solidFill>
                <a:srgbClr val="002060"/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A5143-4496-6BE2-1FD8-810E73FCA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88" y="1412776"/>
            <a:ext cx="8374384" cy="4536504"/>
          </a:xfrm>
        </p:spPr>
        <p:txBody>
          <a:bodyPr/>
          <a:lstStyle/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is the field that extracts useful information from data using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algorithms and models.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is a part of Data Science that helps computers understand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images and videos.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gesture recognition is an important application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and Machine Learning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recognition helps in improving communication between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humans and computers.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combines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Science, Computer Vision, and Assistant 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Technology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recognize hand gestures and convert them into text.</a:t>
            </a:r>
          </a:p>
          <a:p>
            <a:pPr algn="just">
              <a:buFont typeface="Courier New" pitchFamily="49" charset="0"/>
              <a:buChar char="o"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4F94025-5541-2DDA-3C94-67CFFFA0C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DB9DF14-43A8-BCCA-4EEE-70D50F84F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SCIENCE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81507592-FA3A-C4A2-AAC6-D9C408AD9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GB" altLang="en-US" sz="4000" b="1" dirty="0">
                <a:solidFill>
                  <a:srgbClr val="002060"/>
                </a:solidFill>
                <a:latin typeface="Calisto MT" panose="02040603050505030304" pitchFamily="18" charset="0"/>
                <a:sym typeface="Arial" panose="020B0604020202020204" pitchFamily="34" charset="0"/>
              </a:rPr>
              <a:t>HISTORY</a:t>
            </a:r>
            <a:endParaRPr lang="en-US" altLang="en-US" dirty="0">
              <a:solidFill>
                <a:srgbClr val="002060"/>
              </a:solidFill>
            </a:endParaRPr>
          </a:p>
        </p:txBody>
      </p:sp>
      <p:sp>
        <p:nvSpPr>
          <p:cNvPr id="7171" name="Footer Placeholder 3">
            <a:extLst>
              <a:ext uri="{FF2B5EF4-FFF2-40B4-BE49-F238E27FC236}">
                <a16:creationId xmlns:a16="http://schemas.microsoft.com/office/drawing/2014/main" id="{7DAD0D55-9FAD-469F-5BB7-1D6544674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en-US" altLang="en-US" sz="1200" dirty="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sp>
        <p:nvSpPr>
          <p:cNvPr id="7172" name="Content Placeholder 1">
            <a:extLst>
              <a:ext uri="{FF2B5EF4-FFF2-40B4-BE49-F238E27FC236}">
                <a16:creationId xmlns:a16="http://schemas.microsoft.com/office/drawing/2014/main" id="{F0345FF9-BA51-5C70-1D30-667AB40E0A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8293" y="1562101"/>
            <a:ext cx="8646195" cy="4794250"/>
          </a:xfrm>
        </p:spPr>
        <p:txBody>
          <a:bodyPr/>
          <a:lstStyle/>
          <a:p>
            <a:pPr algn="just" eaLnBrk="1" hangingPunct="1"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early stage, data analysis was done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calculations and </a:t>
            </a:r>
          </a:p>
          <a:p>
            <a:pPr marL="0" indent="0" algn="just" eaLnBrk="1" hangingPunct="1"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basic statistics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Later,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tables and databases were used </a:t>
            </a:r>
          </a:p>
          <a:p>
            <a:pPr marL="0" indent="0" algn="just" eaLnBrk="1" hangingPunct="1"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for decision making.</a:t>
            </a:r>
          </a:p>
          <a:p>
            <a:pPr algn="just" eaLnBrk="1" hangingPunct="1"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After ML is introduced, trained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numerical and textual data</a:t>
            </a:r>
          </a:p>
          <a:p>
            <a:pPr marL="0" indent="0" algn="just" eaLnBrk="1" hangingPunct="1">
              <a:buNone/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as data increased,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became popular.</a:t>
            </a:r>
          </a:p>
          <a:p>
            <a:pPr marL="0" indent="0" algn="just" eaLnBrk="1" hangingPunct="1">
              <a:buNone/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	                     </a:t>
            </a:r>
          </a:p>
          <a:p>
            <a:pPr marL="0" indent="0" algn="just" eaLnBrk="1" hangingPunct="1">
              <a:buNone/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	Deep Learning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complex patterns from large datasets.</a:t>
            </a:r>
          </a:p>
          <a:p>
            <a:pPr marL="0" indent="0" algn="just" eaLnBrk="1" hangingPunct="1">
              <a:buNone/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Data Science  handling the unstructured data(images and videos)</a:t>
            </a:r>
          </a:p>
          <a:p>
            <a:pPr marL="0" indent="0" algn="just" eaLnBrk="1" hangingPunct="1">
              <a:buNone/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</a:t>
            </a:r>
          </a:p>
          <a:p>
            <a:pPr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Today, Data Science is used to build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systems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analyze </a:t>
            </a:r>
          </a:p>
          <a:p>
            <a:pPr marL="0" indent="0" algn="just" eaLnBrk="1" hangingPunct="1"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real-world data and support automation.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73166DE-795D-9CF3-0AD4-412DEFD49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590" y="6400799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SCIENCE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DC68D647-5CA3-5947-40AA-A1E50B934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GB" altLang="en-US" sz="4000" b="1" dirty="0">
                <a:solidFill>
                  <a:srgbClr val="002060"/>
                </a:solidFill>
                <a:latin typeface="Calisto MT" panose="02040603050505030304" pitchFamily="18" charset="0"/>
                <a:sym typeface="Arial" panose="020B0604020202020204" pitchFamily="34" charset="0"/>
              </a:rPr>
              <a:t>APPLICATIONS</a:t>
            </a:r>
            <a:endParaRPr lang="en-US" altLang="en-US" dirty="0">
              <a:solidFill>
                <a:srgbClr val="002060"/>
              </a:solidFill>
            </a:endParaRPr>
          </a:p>
        </p:txBody>
      </p:sp>
      <p:sp>
        <p:nvSpPr>
          <p:cNvPr id="8195" name="Footer Placeholder 3">
            <a:extLst>
              <a:ext uri="{FF2B5EF4-FFF2-40B4-BE49-F238E27FC236}">
                <a16:creationId xmlns:a16="http://schemas.microsoft.com/office/drawing/2014/main" id="{30233C12-E02E-D00A-C685-1112C0EA3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400799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SCIENCE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20" name="Content Placeholder 1">
            <a:extLst>
              <a:ext uri="{FF2B5EF4-FFF2-40B4-BE49-F238E27FC236}">
                <a16:creationId xmlns:a16="http://schemas.microsoft.com/office/drawing/2014/main" id="{0A733867-6424-7767-64C4-761C9E5E4E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28799"/>
            <a:ext cx="8229600" cy="4497363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is used to analyze large amounts of data to support decision </a:t>
            </a:r>
          </a:p>
          <a:p>
            <a:pPr marL="0" indent="0" eaLnBrk="1" hangingPunct="1"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making.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Business Analytics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- 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ales prediction and customer behavior analysis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Health Care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prediction and medical data analysis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Banking and Finance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and risk analysis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Education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analysis and recommendation systems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Social Media Platforms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- 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nalyze user data and personalize content</a:t>
            </a:r>
          </a:p>
          <a:p>
            <a:pPr marL="0" indent="0" eaLnBrk="1" hangingPunct="1">
              <a:buNone/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It is also supports assistant systems by learning patterns from data.</a:t>
            </a:r>
          </a:p>
          <a:p>
            <a:pPr marL="0" indent="0" eaLnBrk="1" hangingPunct="1">
              <a:buNone/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</a:t>
            </a: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We concludes that Data Science plays a key role in automation.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B820C6F2-6BF5-4728-B893-37B72E4722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GB" altLang="en-US" b="1" dirty="0">
                <a:solidFill>
                  <a:srgbClr val="002060"/>
                </a:solidFill>
                <a:latin typeface="Calisto MT" panose="02040603050505030304" pitchFamily="18" charset="0"/>
                <a:sym typeface="Arial" panose="020B0604020202020204" pitchFamily="34" charset="0"/>
              </a:rPr>
              <a:t>FEATURES</a:t>
            </a:r>
            <a:endParaRPr lang="en-US" altLang="en-US" dirty="0">
              <a:solidFill>
                <a:srgbClr val="002060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B026B0-74CF-4E4F-8C3B-22BCB3BCE7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931640"/>
            <a:ext cx="7533455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›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approach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learn patterns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›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latinLnBrk="0">
              <a:lnSpc>
                <a:spcPct val="150000"/>
              </a:lnSpc>
              <a:spcBef>
                <a:spcPct val="0"/>
              </a:spcBef>
              <a:buFont typeface="Times New Roman" panose="02020603050405020304" pitchFamily="18" charset="0"/>
              <a:buChar char="›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Deep Learning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prediction.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›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and unstructured data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›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learning from historical data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›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build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and automated systems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›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da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uses, more efficient performance improved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68176-2488-2473-A49A-6647384F9CFA}"/>
              </a:ext>
            </a:extLst>
          </p:cNvPr>
          <p:cNvSpPr txBox="1"/>
          <p:nvPr/>
        </p:nvSpPr>
        <p:spPr>
          <a:xfrm>
            <a:off x="2286000" y="644486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SCIENCE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2EF41EB9-A198-5A09-ABC5-38BCC6211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1281113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  <a:latin typeface="Calisto MT" panose="02040603050505030304" pitchFamily="18" charset="0"/>
              </a:rPr>
              <a:t>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14B83-5246-BA43-8090-AC40BBF77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b="0" i="0" dirty="0">
                <a:latin typeface="Arial" panose="020B0604020202020204" pitchFamily="34" charset="0"/>
              </a:rPr>
              <a:t>DATA SCIENCE</a:t>
            </a:r>
            <a:endParaRPr lang="en-US" altLang="en-US" sz="1800" b="0" i="0" dirty="0">
              <a:latin typeface="Arial" panose="020B0604020202020204" pitchFamily="34" charset="0"/>
            </a:endParaRPr>
          </a:p>
        </p:txBody>
      </p:sp>
      <p:sp>
        <p:nvSpPr>
          <p:cNvPr id="3" name="AutoShape 2" descr="Generated image">
            <a:extLst>
              <a:ext uri="{FF2B5EF4-FFF2-40B4-BE49-F238E27FC236}">
                <a16:creationId xmlns:a16="http://schemas.microsoft.com/office/drawing/2014/main" id="{694489EC-8419-C69B-1477-850F496143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8" name="Picture 4" descr="An Overview of Data Pipeline Architecture">
            <a:extLst>
              <a:ext uri="{FF2B5EF4-FFF2-40B4-BE49-F238E27FC236}">
                <a16:creationId xmlns:a16="http://schemas.microsoft.com/office/drawing/2014/main" id="{AC1FB91E-0C9D-C026-494F-AD6D6203A4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85" y="1550415"/>
            <a:ext cx="8088515" cy="462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063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46FC7-42B6-A7EC-733A-AFBC91BC2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41" y="149303"/>
            <a:ext cx="8856662" cy="5649490"/>
          </a:xfrm>
        </p:spPr>
        <p:txBody>
          <a:bodyPr/>
          <a:lstStyle/>
          <a:p>
            <a:pPr marL="457200" lvl="1" indent="0" algn="just">
              <a:lnSpc>
                <a:spcPct val="150000"/>
              </a:lnSpc>
              <a:buNone/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		     </a:t>
            </a:r>
            <a:r>
              <a:rPr lang="en-US" sz="4400" b="1" dirty="0">
                <a:solidFill>
                  <a:srgbClr val="002060"/>
                </a:solidFill>
                <a:latin typeface="Calisto MT" panose="02040603050505030304" pitchFamily="18" charset="0"/>
                <a:cs typeface="Times New Roman" panose="02020603050405020304" pitchFamily="18" charset="0"/>
              </a:rPr>
              <a:t>SERVICES</a:t>
            </a:r>
          </a:p>
          <a:p>
            <a:pPr marL="457200" lvl="1" indent="0" algn="just">
              <a:lnSpc>
                <a:spcPct val="150000"/>
              </a:lnSpc>
              <a:buNone/>
              <a:defRPr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 Service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raw data from different sources for analysis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Preprocessing Service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and prepares data for better accuracy.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Feature Extraction Service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important features from the data.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Model Training Service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Machine Learning and Deep Learning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     models using data.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Prediction Service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predictions or classifications from trained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models.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Data Analysis Service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patterns and trends in the data.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Decision Support Service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make decisions based on data insights</a:t>
            </a:r>
          </a:p>
          <a:p>
            <a:pPr marL="457200" lvl="1" indent="0" algn="just">
              <a:lnSpc>
                <a:spcPct val="150000"/>
              </a:lnSpc>
              <a:buNone/>
              <a:defRPr/>
            </a:pPr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3CDA3-0169-D4D4-8DD9-A235495E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b="0" i="0" dirty="0">
                <a:latin typeface="Arial" panose="020B0604020202020204" pitchFamily="34" charset="0"/>
              </a:rPr>
              <a:t>DATA SCIENCE</a:t>
            </a:r>
            <a:endParaRPr lang="en-US" altLang="en-US" sz="1800" b="0" i="0" dirty="0">
              <a:latin typeface="Arial" panose="020B0604020202020204" pitchFamily="34" charset="0"/>
            </a:endParaRP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79A3D3E3-C3C7-06B9-E483-38BD36A3E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890588"/>
            <a:ext cx="4572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latinLnBrk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8490-8AA9-3BE8-03F5-F302D260C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r>
              <a:rPr lang="en-US" sz="3600" b="1" dirty="0">
                <a:solidFill>
                  <a:srgbClr val="002060"/>
                </a:solidFill>
                <a:latin typeface="Calisto MT" panose="02040603050505030304" pitchFamily="18" charset="0"/>
              </a:rPr>
              <a:t>CONCLUSION</a:t>
            </a:r>
            <a:br>
              <a:rPr lang="en-US" sz="3600" b="1" dirty="0">
                <a:solidFill>
                  <a:srgbClr val="002060"/>
                </a:solidFill>
                <a:latin typeface="Calisto MT" panose="02040603050505030304" pitchFamily="18" charset="0"/>
              </a:rPr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D492C-E7E7-367A-422E-3BD62C2F0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196752"/>
            <a:ext cx="8856984" cy="525658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helps computers learn from data and make correct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decisions. It is used to analyze data, find patterns, and build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intelligent systems. It reduces human effort by automating tasks.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This makes Data Science an important part of modern technology.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086BD-461B-2382-B668-C32E983ED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b="0" i="0" dirty="0">
                <a:latin typeface="Arial" panose="020B0604020202020204" pitchFamily="34" charset="0"/>
              </a:rPr>
              <a:t>DATA SCIENCE</a:t>
            </a:r>
            <a:endParaRPr lang="en-US" altLang="en-US" sz="1800" b="0" i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636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B20E5-7946-8967-3FC6-182C48E88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40768"/>
            <a:ext cx="9217024" cy="3528392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sto MT" panose="02040603050505030304" pitchFamily="18" charset="0"/>
              </a:rPr>
              <a:t>SIGN LANGUAGE PREDICTION USING HANDGESTURES</a:t>
            </a:r>
            <a:endParaRPr lang="en-IN" b="1" dirty="0">
              <a:latin typeface="Calisto MT" panose="0204060305050503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027BD7-DAD0-9FAA-F533-34D579A2F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b="0" i="0" dirty="0">
                <a:latin typeface="Arial" panose="020B0604020202020204" pitchFamily="34" charset="0"/>
              </a:rPr>
              <a:t>DATA SCIENCE</a:t>
            </a:r>
            <a:endParaRPr lang="en-US" altLang="en-US" sz="1800" b="0" i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603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867CF10-1532-29FE-942C-EB79C4EF8B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GB" altLang="en-US" sz="4000" b="1" dirty="0">
                <a:solidFill>
                  <a:srgbClr val="002060"/>
                </a:solidFill>
                <a:latin typeface="Calisto MT" panose="02040603050505030304" pitchFamily="18" charset="0"/>
                <a:sym typeface="Arial" panose="020B0604020202020204" pitchFamily="34" charset="0"/>
              </a:rPr>
              <a:t>PROBLEM STATEMENT</a:t>
            </a:r>
            <a:endParaRPr lang="en-US" altLang="en-US" dirty="0">
              <a:solidFill>
                <a:srgbClr val="002060"/>
              </a:solidFill>
            </a:endParaRPr>
          </a:p>
        </p:txBody>
      </p:sp>
      <p:sp>
        <p:nvSpPr>
          <p:cNvPr id="14339" name="Footer Placeholder 3">
            <a:extLst>
              <a:ext uri="{FF2B5EF4-FFF2-40B4-BE49-F238E27FC236}">
                <a16:creationId xmlns:a16="http://schemas.microsoft.com/office/drawing/2014/main" id="{89575F9B-854E-D922-B0B3-2F26393ED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492875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ct val="0"/>
              </a:spcBef>
              <a:buNone/>
            </a:pPr>
            <a:r>
              <a:rPr lang="en-US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DATA SCIENCE</a:t>
            </a:r>
            <a:endParaRPr lang="en-US" altLang="en-US" sz="1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en-US" altLang="en-US" sz="12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0D2519-F504-CDBD-67C4-FC2A29215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015582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Deaf and mute people communicate using sign language, which is difficult 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for normal people to understand. In many situations, a human translator is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not available to convert sign language into text. Existing systems for sign 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language recognition are either costly, require special hardware, or do not 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work accurately for hand gestures with movement. Therefore, there is a 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need for a simple, camera-based system that can recognize hand gestures in 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real time and convert them into readable text for easy communication.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1376A-20EB-3C5F-BFC7-54284403C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3A397-9537-D877-1EBE-4D517699F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124" y="1654437"/>
            <a:ext cx="8498363" cy="452596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recognize Sign Language using hand gestures.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capture hand movements using a camera without special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hardware.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hand features using Computer Vision techniques.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convert recognized hand gestures into text output.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communication and assistant-based applications.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AEA6A-7B03-231A-1748-E6133459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94701"/>
            <a:ext cx="2895600" cy="365125"/>
          </a:xfrm>
        </p:spPr>
        <p:txBody>
          <a:bodyPr/>
          <a:lstStyle/>
          <a:p>
            <a:r>
              <a:rPr lang="en-US" altLang="en-US" b="0" i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DATA SCIENCE</a:t>
            </a:r>
            <a:endParaRPr lang="en-US" altLang="en-US" sz="1800" b="0" i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endParaRPr lang="en-US" altLang="en-US" b="0" i="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046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D33CE07C-CA84-34E5-CF9C-FC308788E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pPr eaLnBrk="1" latinLnBrk="0" hangingPunct="1"/>
            <a:r>
              <a:rPr lang="en-GB" altLang="en-US" sz="4000" b="1" dirty="0">
                <a:solidFill>
                  <a:srgbClr val="002060"/>
                </a:solidFill>
                <a:latin typeface="Calisto MT" panose="02040603050505030304" pitchFamily="18" charset="0"/>
                <a:sym typeface="Arial" panose="020B0604020202020204" pitchFamily="34" charset="0"/>
              </a:rPr>
              <a:t>REQUIREMENTS</a:t>
            </a:r>
            <a:endParaRPr lang="en-US" altLang="en-US" dirty="0">
              <a:solidFill>
                <a:srgbClr val="002060"/>
              </a:solidFill>
            </a:endParaRPr>
          </a:p>
        </p:txBody>
      </p:sp>
      <p:sp>
        <p:nvSpPr>
          <p:cNvPr id="16387" name="Footer Placeholder 3">
            <a:extLst>
              <a:ext uri="{FF2B5EF4-FFF2-40B4-BE49-F238E27FC236}">
                <a16:creationId xmlns:a16="http://schemas.microsoft.com/office/drawing/2014/main" id="{CF06EF29-6D8E-5B5E-8FDC-AD87DCCBF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INTERNSHIP TITLE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0" name="Content Placeholder 1">
            <a:extLst>
              <a:ext uri="{FF2B5EF4-FFF2-40B4-BE49-F238E27FC236}">
                <a16:creationId xmlns:a16="http://schemas.microsoft.com/office/drawing/2014/main" id="{3243FFAF-F8A3-1ADE-F2DA-5E3D3D81F4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507413" cy="5014912"/>
          </a:xfrm>
        </p:spPr>
        <p:txBody>
          <a:bodyPr/>
          <a:lstStyle/>
          <a:p>
            <a:pPr>
              <a:buFont typeface="Times New Roman" panose="02020603050405020304" pitchFamily="18" charset="0"/>
              <a:buChar char="›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Computer or Laptop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Webcam or Built-in Camera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Required RAM and ROM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alibri" panose="020F0502020204030204" pitchFamily="34" charset="0"/>
              <a:buChar char="›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400050" lvl="1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Operating System: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</a:p>
          <a:p>
            <a:pPr marL="400050" lvl="1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Programming Language: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400050" lvl="1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Library: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0005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	  TensorFlow /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	  NumPy</a:t>
            </a:r>
          </a:p>
          <a:p>
            <a:pPr marL="40005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       	  OpenCV</a:t>
            </a:r>
          </a:p>
          <a:p>
            <a:pPr marL="457200" lvl="1" indent="0" eaLnBrk="1" hangingPunct="1"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	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Dataset: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American sign language (ASL) 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1" hangingPunct="1">
              <a:buNone/>
              <a:defRPr/>
            </a:pPr>
            <a:r>
              <a:rPr lang="en-US" altLang="en-US" sz="2000" dirty="0">
                <a:sym typeface="Arial" panose="020B0604020202020204" pitchFamily="34" charset="0"/>
              </a:rPr>
              <a:t>				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7873F9C9-B8D9-A3F8-1F82-C2FDF9315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altLang="en-US" sz="4000" dirty="0">
              <a:solidFill>
                <a:srgbClr val="00206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en-US" sz="4000" b="1" dirty="0">
              <a:solidFill>
                <a:srgbClr val="002060"/>
              </a:solidFill>
              <a:latin typeface="Calisto MT" panose="0204060305050503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en-US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THANK</a:t>
            </a:r>
            <a:r>
              <a:rPr lang="en-US" altLang="en-US" sz="4000" dirty="0">
                <a:solidFill>
                  <a:srgbClr val="002060"/>
                </a:solidFill>
                <a:latin typeface="Calisto MT" panose="02040603050505030304" pitchFamily="18" charset="0"/>
              </a:rPr>
              <a:t> </a:t>
            </a:r>
            <a:r>
              <a:rPr lang="en-US" altLang="en-US" sz="4000" b="1" dirty="0">
                <a:solidFill>
                  <a:srgbClr val="002060"/>
                </a:solidFill>
                <a:latin typeface="Calisto MT" panose="02040603050505030304" pitchFamily="18" charset="0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默认设计模板">
      <a:majorFont>
        <a:latin typeface="Calibri Light"/>
        <a:ea typeface=""/>
        <a:cs typeface="Calibri Light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cs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cs typeface="Arial" panose="020B0604020202020204" pitchFamily="34" charset="0"/>
            <a:sym typeface="Arial" panose="020B06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2406</TotalTime>
  <Words>824</Words>
  <Application>Microsoft Office PowerPoint</Application>
  <DocSecurity>0</DocSecurity>
  <PresentationFormat>On-screen Show (4:3)</PresentationFormat>
  <Paragraphs>135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Calisto MT</vt:lpstr>
      <vt:lpstr>Courier New</vt:lpstr>
      <vt:lpstr>Times New Roman</vt:lpstr>
      <vt:lpstr>Wingdings</vt:lpstr>
      <vt:lpstr>默认设计模板</vt:lpstr>
      <vt:lpstr>Office Theme</vt:lpstr>
      <vt:lpstr> Internship Review-1    SIGN LANGUAGE PREDICTION USING HAND         GESTURES                                    Dt:30-01-2026</vt:lpstr>
      <vt:lpstr> CONTENTS </vt:lpstr>
      <vt:lpstr>INTRODUCTION TO  TECHNOLOGY</vt:lpstr>
      <vt:lpstr>HISTORY</vt:lpstr>
      <vt:lpstr>APPLICATIONS</vt:lpstr>
      <vt:lpstr>FEATURES</vt:lpstr>
      <vt:lpstr>ARCHITECTURE</vt:lpstr>
      <vt:lpstr>PowerPoint Presentation</vt:lpstr>
      <vt:lpstr>CONCLUSION </vt:lpstr>
      <vt:lpstr>SIGN LANGUAGE PREDICTION USING HANDGESTURES</vt:lpstr>
      <vt:lpstr>PROBLEM STATEMENT</vt:lpstr>
      <vt:lpstr>OBJECTIVE</vt:lpstr>
      <vt:lpstr>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 TITLE</dc:title>
  <dc:creator>MOWNIKA</dc:creator>
  <cp:lastModifiedBy>Bhanu Pulipati</cp:lastModifiedBy>
  <cp:revision>207</cp:revision>
  <dcterms:created xsi:type="dcterms:W3CDTF">2006-08-15T18:30:00Z</dcterms:created>
  <dcterms:modified xsi:type="dcterms:W3CDTF">2026-03-13T08:56:20Z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2dcc578866b345d9b88c5a3fc8cc6b68</vt:lpwstr>
  </property>
</Properties>
</file>